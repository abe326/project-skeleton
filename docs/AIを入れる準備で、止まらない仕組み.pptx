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5" autoAdjust="0"/>
    <p:restoredTop sz="95742" autoAdjust="0"/>
  </p:normalViewPr>
  <p:slideViewPr>
    <p:cSldViewPr snapToGrid="0" snapToObjects="1">
      <p:cViewPr varScale="1">
        <p:scale>
          <a:sx n="126" d="100"/>
          <a:sy n="126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37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altLang="en-U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7680960" cy="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97280" cy="0"/>
          </a:xfrm>
          <a:prstGeom prst="line">
            <a:avLst/>
          </a:prstGeom>
          <a:noFill/>
          <a:ln w="25400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>
            <a:spLocks noGrp="1"/>
          </p:cNvSpPr>
          <p:nvPr>
            <p:ph idx="102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資料のタイトル</a:t>
            </a:r>
            <a:endParaRPr lang="ja-JP" altLang="en-US" sz="3000" dirty="0"/>
          </a:p>
        </p:txBody>
      </p:sp>
      <p:sp>
        <p:nvSpPr>
          <p:cNvPr id="5" name="Text 2"/>
          <p:cNvSpPr>
            <a:spLocks noGrp="1"/>
          </p:cNvSpPr>
          <p:nvPr>
            <p:ph idx="103" hasCustomPrompt="1"/>
          </p:nvPr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サブタイトル</a:t>
            </a:r>
            <a:endParaRPr lang="ja-JP" alt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731520" y="3063240"/>
            <a:ext cx="7680960" cy="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2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2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 ／ 発表者</a:t>
            </a:r>
            <a:endParaRPr lang="ja-JP" alt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011680"/>
            <a:ext cx="1280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2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2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alt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2468880" y="2011680"/>
            <a:ext cx="6217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2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2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セクション名</a:t>
            </a:r>
            <a:endParaRPr lang="ja-JP" alt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ja-JP" altLang="en-US" sz="1800" dirty="0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ja-JP" altLang="en-US" sz="1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</a:t>
            </a:r>
            <a:endParaRPr lang="ja-JP" alt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ja-JP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カラム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ja-JP" altLang="en-US" sz="1800" dirty="0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ja-JP" altLang="en-US" sz="1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457200" y="1097280"/>
            <a:ext cx="397764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左の本文</a:t>
            </a:r>
            <a:endParaRPr lang="ja-JP" altLang="en-US" sz="14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709160" y="1097280"/>
            <a:ext cx="397764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右の本文</a:t>
            </a:r>
            <a:endParaRPr lang="ja-JP" alt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ja-JP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のみ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ja-JP" altLang="en-US" sz="1800" dirty="0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このスライドで伝えたいことを一文で</a:t>
            </a:r>
            <a:endParaRPr lang="ja-JP" alt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ja-JP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lang="ja-JP" altLang="en-U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ja-JP" altLang="en-US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ja-JP" altLang="en-US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idx="102" hasCustomPrompt="1"/>
          </p:nvPr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0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を入れる準備で、止まらない仕組み</a:t>
            </a:r>
            <a:endParaRPr lang="ja-JP" altLang="en-US" sz="3000" dirty="0"/>
          </a:p>
        </p:txBody>
      </p:sp>
      <p:sp>
        <p:nvSpPr>
          <p:cNvPr id="3" name="Text 2"/>
          <p:cNvSpPr>
            <a:spLocks noGrp="1"/>
          </p:cNvSpPr>
          <p:nvPr>
            <p:ph idx="103" hasCustomPrompt="1"/>
          </p:nvPr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5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project-skeleton ― AI と仕事を始める初日の一式</a:t>
            </a:r>
            <a:endParaRPr lang="ja-JP" alt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body" idx="105" hasCustomPrompt="1"/>
          </p:nvPr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ja-JP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なぜ作ったか → 何を作ったか → どう工夫したか → どこに効くか、の順に話します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</a:t>
            </a: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なぜ作ったか</a:t>
            </a:r>
            <a:endParaRPr lang="ja-JP" alt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27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1-1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導入が目的になっていないか</a:t>
            </a:r>
            <a:endParaRPr lang="ja-JP" alt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025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</a:t>
            </a: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何を作ったか</a:t>
            </a:r>
            <a:endParaRPr lang="ja-JP" alt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2-1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</a:t>
            </a:r>
            <a:endParaRPr lang="ja-JP" alt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4023360" cy="2011680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</a:t>
            </a: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工夫したこと</a:t>
            </a:r>
            <a:endParaRPr lang="ja-JP" alt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標準化は後から効かせる</a:t>
            </a:r>
            <a:endParaRPr lang="ja-JP" alt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538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Sketch で縛らず、Build で効かせる</a:t>
            </a:r>
            <a:endParaRPr lang="ja-JP" alt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758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覚えさせすぎない</a:t>
            </a:r>
            <a:endParaRPr lang="ja-JP" alt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050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人と AI で分ける・わざと忘れさせる</a:t>
            </a:r>
            <a:endParaRPr lang="ja-JP" alt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702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3-3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 で速く、ハーネスで守る</a:t>
            </a:r>
            <a:endParaRPr lang="ja-JP" alt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5628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仕組みは使いながら育てる</a:t>
            </a:r>
            <a:endParaRPr lang="ja-JP" alt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 </a:t>
            </a: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どこに効くか</a:t>
            </a:r>
            <a:endParaRPr lang="ja-JP" alt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1527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4-1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作業の流れのどこに効くか</a:t>
            </a:r>
            <a:endParaRPr lang="ja-JP" alt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8379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4-2  </a:t>
            </a: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導入の進め方</a:t>
            </a:r>
            <a:endParaRPr lang="ja-JP" alt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313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</a:t>
            </a: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作って分かったこと</a:t>
            </a:r>
            <a:endParaRPr lang="ja-JP" alt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ja-JP" alt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28032" y="3520440"/>
            <a:ext cx="3785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本題は 3 章。3 章・4 章の番号は、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2-1 の全体図にも札で付けています</a:t>
            </a:r>
            <a:endParaRPr lang="ja-JP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2</a:t>
            </a:fld>
            <a:endParaRPr lang="ja-JP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1-1  AI 導入が目的になっていないか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人のボトルネックを省くための AI なのに、入れる準備でまた人が詰まる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なぜ作ったか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人がボトルネック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判断・調整・記録が人に集まる</a:t>
            </a:r>
            <a:endParaRPr lang="ja-JP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23444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85216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を入れよう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目的は人の手を空けること</a:t>
            </a:r>
            <a:endParaRPr lang="ja-JP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788920"/>
            <a:ext cx="2651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85216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導入の準備が重い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置き場・記録・指示を毎回ゼロから</a:t>
            </a:r>
            <a:endParaRPr lang="ja-JP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2651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また人が詰まる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準備に時間を取られ、本業が進まない</a:t>
            </a:r>
            <a:endParaRPr lang="ja-JP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600200"/>
            <a:ext cx="228600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086600" y="2011680"/>
            <a:ext cx="0" cy="73152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 flipH="1">
            <a:off x="3429000" y="3154680"/>
            <a:ext cx="2286000" cy="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 flipV="1">
            <a:off x="2057400" y="2011680"/>
            <a:ext cx="0" cy="731520"/>
          </a:xfrm>
          <a:prstGeom prst="line">
            <a:avLst/>
          </a:prstGeom>
          <a:noFill/>
          <a:ln w="19050">
            <a:solidFill>
              <a:srgbClr val="B03A2E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3579220"/>
            <a:ext cx="1737360" cy="295866"/>
          </a:xfrm>
          <a:prstGeom prst="wedgeRoundRectCallout">
            <a:avLst>
              <a:gd name="adj1" fmla="val -36622"/>
              <a:gd name="adj2" fmla="val -94237"/>
              <a:gd name="adj3" fmla="val 16667"/>
            </a:avLst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913632" y="3579220"/>
            <a:ext cx="1591056" cy="295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元も子もない</a:t>
            </a:r>
            <a:endParaRPr lang="ja-JP" alt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導入が目的化すると抜けられない</a:t>
            </a:r>
            <a:endParaRPr lang="ja-JP" alt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44979"/>
            <a:ext cx="8229600" cy="822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05470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作成したツール</a:t>
            </a:r>
            <a:r>
              <a:rPr lang="ja-JP" altLang="en-US" sz="1100" b="1" noProof="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の狙い</a:t>
            </a:r>
            <a:endParaRPr lang="ja-JP" alt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導入の準備を 1 </a:t>
            </a:r>
            <a:r>
              <a:rPr lang="ja-JP" altLang="en-US" sz="1300" noProof="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コマンドにして、このループを断つ</a:t>
            </a: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ja-JP" altLang="en-US" sz="1300" noProof="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人は「どこに効かせるか」に時間を使う</a:t>
            </a:r>
            <a:endParaRPr lang="ja-JP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3</a:t>
            </a:fld>
            <a:endParaRPr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2-1  全体像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「○○のプロジェクトを作って」の一言で、置き場・記録・仕組みが揃った作業フォルダができる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何を作ったか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783080" cy="64008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「○○の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プロジェクトを作って」</a:t>
            </a:r>
            <a:endParaRPr lang="ja-JP" alt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783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new-project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コマンドで生成</a:t>
            </a:r>
            <a:endParaRPr lang="ja-JP" alt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既存のフォルダには --merge で足りないものだけ足す</a:t>
            </a:r>
            <a:endParaRPr lang="ja-JP" alt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350008"/>
            <a:ext cx="32004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88920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生成される作業フォルダ</a:t>
            </a:r>
            <a:endParaRPr lang="ja-JP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1572768"/>
            <a:ext cx="1234440" cy="86868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880360" y="157276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タスク管理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件 = md 1 枚</a:t>
            </a:r>
            <a:endParaRPr lang="ja-JP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572768"/>
            <a:ext cx="1234440" cy="86868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206240" y="157276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最低限の記録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決定・未決を拾って落とす</a:t>
            </a:r>
            <a:endParaRPr lang="ja-JP" alt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0680" y="1572768"/>
            <a:ext cx="1234440" cy="86868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532120" y="157276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ハーネス設計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 → 承認 → 定義</a:t>
            </a:r>
            <a:endParaRPr lang="ja-JP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88920" y="2560320"/>
            <a:ext cx="3886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880360" y="25603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人が見る（シンプル）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 HTML・タスク一覧</a:t>
            </a:r>
            <a:endParaRPr lang="ja-JP" alt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8920" y="3200400"/>
            <a:ext cx="3886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880360" y="3200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が読む（詳細）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CLAUDE.md・rules・skills・hooks・設計書</a:t>
            </a:r>
            <a:endParaRPr lang="ja-JP" alt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75862" y="403641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Sketch → Build：進むほど決まりが効いてくる</a:t>
            </a:r>
            <a:endParaRPr lang="ja-JP" alt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4251957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標準ライブラリだけ・Claude Code 用</a:t>
            </a:r>
            <a:endParaRPr lang="ja-JP" alt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32888" y="3798673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532888" y="3798673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</a:t>
            </a:r>
            <a:endParaRPr lang="ja-JP" alt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1463040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983480" y="146304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</a:t>
            </a:r>
            <a:endParaRPr lang="ja-JP" alt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450592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245059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</a:t>
            </a:r>
            <a:endParaRPr lang="ja-JP" alt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1463040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309360" y="146304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3-3</a:t>
            </a:r>
            <a:endParaRPr lang="ja-JP" alt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1078992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355080" y="107899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4-1</a:t>
            </a:r>
            <a:endParaRPr lang="ja-JP" alt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74520" y="1901952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874520" y="190195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4-2</a:t>
            </a:r>
            <a:endParaRPr lang="ja-JP" alt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2350008"/>
            <a:ext cx="27432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7132320" y="1188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使う場面</a:t>
            </a:r>
            <a:endParaRPr lang="ja-JP" alt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32320" y="1508760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223760" y="1508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</a:t>
            </a:r>
            <a:endParaRPr lang="ja-JP" alt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2039112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7223760" y="20391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 業務</a:t>
            </a:r>
            <a:endParaRPr lang="ja-JP" alt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32320" y="2569464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7223760" y="25694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運用保守</a:t>
            </a:r>
            <a:endParaRPr lang="ja-JP" alt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3099816"/>
            <a:ext cx="1554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7223760" y="3099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インフラ・SaaS 管理</a:t>
            </a:r>
            <a:endParaRPr lang="ja-JP" altLang="en-US" sz="1200" dirty="0"/>
          </a:p>
        </p:txBody>
      </p:sp>
      <p:sp>
        <p:nvSpPr>
          <p:cNvPr id="47" name="Shape 45"/>
          <p:cNvSpPr/>
          <p:nvPr/>
        </p:nvSpPr>
        <p:spPr>
          <a:xfrm flipV="1">
            <a:off x="7132320" y="3822192"/>
            <a:ext cx="1554480" cy="45720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7205472" y="382219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業務ごとに型を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選ばない</a:t>
            </a:r>
            <a:endParaRPr lang="ja-JP" alt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401568"/>
            <a:ext cx="256032" cy="16459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777240" y="33649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機械（hook・検査）</a:t>
            </a:r>
            <a:endParaRPr lang="ja-JP" alt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675888"/>
            <a:ext cx="25603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777240" y="3639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手順（skill）</a:t>
            </a:r>
            <a:endParaRPr lang="ja-JP" alt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950208"/>
            <a:ext cx="25603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77724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問題・つまずき</a:t>
            </a:r>
            <a:endParaRPr lang="ja-JP" alt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224528"/>
            <a:ext cx="256032" cy="164592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777240" y="4187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注目してほしい箇所</a:t>
            </a:r>
            <a:endParaRPr lang="ja-JP" alt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480560"/>
            <a:ext cx="420624" cy="237744"/>
          </a:xfrm>
          <a:prstGeom prst="roundRect">
            <a:avLst>
              <a:gd name="adj" fmla="val 30769"/>
            </a:avLst>
          </a:prstGeom>
          <a:solidFill>
            <a:srgbClr val="4F6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457200" y="448056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</a:t>
            </a:r>
            <a:endParaRPr lang="ja-JP" alt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32688" y="4498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あとで話す節の番号</a:t>
            </a:r>
            <a:endParaRPr lang="ja-JP" altLang="en-US" sz="10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4</a:t>
            </a:fld>
            <a:endParaRPr lang="ja-JP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  標準化は後から効かせる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汎用性と標準化のジレンマ: 最初から標準化すると、AI の汎用性と初動の速さが消える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工夫したこと（1/2）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 flipV="1">
            <a:off x="914400" y="1234440"/>
            <a:ext cx="0" cy="288036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484632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93918" y="1352655"/>
            <a:ext cx="620482" cy="201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</a:t>
            </a:r>
          </a:p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事前準備</a:t>
            </a:r>
            <a:endParaRPr lang="ja-JP" alt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0" cy="2651760"/>
          </a:xfrm>
          <a:prstGeom prst="line">
            <a:avLst/>
          </a:prstGeom>
          <a:noFill/>
          <a:ln w="12700">
            <a:solidFill>
              <a:srgbClr val="C8D2D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4178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Sketch：集めて試す</a:t>
            </a:r>
            <a:endParaRPr lang="ja-JP" alt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100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Build：外へ出す</a:t>
            </a:r>
            <a:endParaRPr lang="ja-JP" alt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21808" y="4203627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 →</a:t>
            </a:r>
            <a:endParaRPr lang="ja-JP" alt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41832" y="1719072"/>
            <a:ext cx="2054787" cy="1920240"/>
          </a:xfrm>
          <a:custGeom>
            <a:avLst/>
            <a:gdLst>
              <a:gd name="csX0" fmla="*/ 0 w 2054787"/>
              <a:gd name="csY0" fmla="*/ 0 h 1920240"/>
              <a:gd name="csX1" fmla="*/ 2048256 w 2054787"/>
              <a:gd name="csY1" fmla="*/ 0 h 1920240"/>
              <a:gd name="csX2" fmla="*/ 2054787 w 2054787"/>
              <a:gd name="csY2" fmla="*/ 1129937 h 1920240"/>
              <a:gd name="csX3" fmla="*/ 0 w 2054787"/>
              <a:gd name="csY3" fmla="*/ 1920240 h 1920240"/>
              <a:gd name="csX4" fmla="*/ 0 w 2054787"/>
              <a:gd name="csY4" fmla="*/ 0 h 1920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4787" h="1920240">
                <a:moveTo>
                  <a:pt x="0" y="0"/>
                </a:moveTo>
                <a:lnTo>
                  <a:pt x="2048256" y="0"/>
                </a:lnTo>
                <a:lnTo>
                  <a:pt x="2054787" y="1129937"/>
                </a:lnTo>
                <a:lnTo>
                  <a:pt x="0" y="1920240"/>
                </a:lnTo>
                <a:lnTo>
                  <a:pt x="0" y="0"/>
                </a:lnTo>
                <a:close/>
              </a:path>
            </a:pathLst>
          </a:custGeom>
          <a:solidFill>
            <a:srgbClr val="B03A2E">
              <a:alpha val="12000"/>
            </a:srgbClr>
          </a:solidFill>
          <a:ln w="1270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今やらなくていい準備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（初動が遅れる）</a:t>
            </a:r>
            <a:endParaRPr lang="ja-JP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47548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従来: 最初から標準化</a:t>
            </a:r>
            <a:endParaRPr lang="ja-JP" alt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941832" y="1882359"/>
            <a:ext cx="4727448" cy="1734747"/>
          </a:xfrm>
          <a:prstGeom prst="line">
            <a:avLst/>
          </a:prstGeom>
          <a:noFill/>
          <a:ln w="31750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37307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本ツール: 最初は拾うだけ</a:t>
            </a:r>
            <a:endParaRPr lang="ja-JP" alt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3931921" y="2571750"/>
            <a:ext cx="1828800" cy="457200"/>
          </a:xfrm>
          <a:prstGeom prst="wedgeRoundRectCallout">
            <a:avLst>
              <a:gd name="adj1" fmla="val -24762"/>
              <a:gd name="adj2" fmla="val 83929"/>
              <a:gd name="adj3" fmla="val 16667"/>
            </a:avLst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005073" y="257175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進むほど標準化が効く</a:t>
            </a:r>
            <a:endParaRPr lang="ja-JP" alt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5603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最初から標準化すると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・準備が先に立ち、初動が遅れる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・型に合わない仕事では、AI の汎用性が生きない</a:t>
            </a:r>
            <a:endParaRPr lang="ja-JP" alt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5603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このツールでは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・導入では縛らない（Sketch）</a:t>
            </a:r>
            <a:endParaRPr lang="ja-JP" alt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・外へ出し始めたら AI が Build に上げ、標準化を効かせる</a:t>
            </a:r>
            <a:endParaRPr lang="ja-JP" alt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5</a:t>
            </a:fld>
            <a:endParaRPr lang="ja-JP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  標準化は後から効かせる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Sketch と Build: いつも効くのは 3 つだけ。ほかはフェーズが進むと効いてくる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工夫したこと（2/2）</a:t>
            </a:r>
            <a:endParaRPr lang="ja-JP" alt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577840" cy="230428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仕組み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Sketch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2F3E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Build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秘密情報の書き込み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停止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停止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置き場外への書き込み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停止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停止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決定事項の書き残し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再度記載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再度記載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変更に伴う文書の更新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通知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4F6D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警告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設計書の未記入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通知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4F6D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警告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文書の鮮度切れ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対象外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ja-JP" altLang="en-US" sz="1200" b="1" dirty="0">
                          <a:solidFill>
                            <a:srgbClr val="4F6D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警告</a:t>
                      </a:r>
                      <a:endParaRPr lang="ja-JP" alt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23444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4"/>
          <p:cNvSpPr/>
          <p:nvPr/>
        </p:nvSpPr>
        <p:spPr>
          <a:xfrm>
            <a:off x="6382512" y="123444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いつも効くのは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3 つだけ</a:t>
            </a:r>
            <a:endParaRPr lang="ja-JP" altLang="en-US" sz="1200" dirty="0"/>
          </a:p>
        </p:txBody>
      </p:sp>
      <p:sp>
        <p:nvSpPr>
          <p:cNvPr id="8" name="Shape 5"/>
          <p:cNvSpPr/>
          <p:nvPr/>
        </p:nvSpPr>
        <p:spPr>
          <a:xfrm flipH="1">
            <a:off x="6080760" y="1554480"/>
            <a:ext cx="228600" cy="365760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oval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6309360" y="25146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6382512" y="251460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 で文書の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更新・鮮度が効く</a:t>
            </a:r>
            <a:endParaRPr lang="ja-JP" altLang="en-US" sz="1200" dirty="0"/>
          </a:p>
        </p:txBody>
      </p:sp>
      <p:sp>
        <p:nvSpPr>
          <p:cNvPr id="11" name="Shape 8"/>
          <p:cNvSpPr/>
          <p:nvPr/>
        </p:nvSpPr>
        <p:spPr>
          <a:xfrm flipH="1">
            <a:off x="6080760" y="2834640"/>
            <a:ext cx="228600" cy="137160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oval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685800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止めないもの</a:t>
            </a:r>
            <a:endParaRPr lang="ja-JP" alt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空欄・未記入・未決の多さでは止めない。フェーズの切り替えは AI が判断し、報告で 1 行伝える</a:t>
            </a:r>
            <a:endParaRPr lang="ja-JP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6</a:t>
            </a:fld>
            <a:endParaRPr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  覚えさせすぎない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覚えさせるほど AI は鈍る。人が見るものと、AI が詳細を読むものを分ける。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工夫したこと（1/2）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全部を覚えさせると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コンテキストを食い、古い情報がノイズになる</a:t>
            </a:r>
            <a:endParaRPr lang="ja-JP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27432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分けて持つ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人向けはシンプルに、AI 向けは詳細に</a:t>
            </a:r>
            <a:endParaRPr lang="ja-JP" alt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2004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人が見る（シンプル）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プロジェクト概要 HTML（1 枚）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タスク一覧 HTML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 の要約</a:t>
            </a:r>
            <a:endParaRPr lang="ja-JP" alt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148840"/>
            <a:ext cx="3200400" cy="155448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77840" y="21488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が読む（詳細）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CLAUDE.md・rules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詳細仕様・設計書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md の「決定」＝正本</a:t>
            </a:r>
            <a:endParaRPr lang="ja-JP" alt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3703320" y="2926080"/>
            <a:ext cx="173736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74904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正本から生成・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 で指す</a:t>
            </a:r>
            <a:endParaRPr lang="ja-JP" alt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3840480" y="3108960"/>
            <a:ext cx="1463040" cy="50292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913632" y="31089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正本は 1 か所</a:t>
            </a:r>
            <a:endParaRPr lang="ja-JP" alt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 タスクの件数や「決めてほしいこと」は概要 HTML に自動で反映される。決まったことは課題に書き、設計書からは「決定 QA-03」のように ID で指す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7</a:t>
            </a:fld>
            <a:endParaRPr lang="ja-JP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  覚えさせすぎない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わざと忘れさせる: 作業ログは 14 日で奥にしまい、要るときだけ取りに行く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工夫したこと（2/2）</a:t>
            </a:r>
            <a:endParaRPr lang="ja-JP" alt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短期記憶</a:t>
            </a:r>
            <a:endParaRPr lang="ja-JP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2900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長期記憶</a:t>
            </a:r>
            <a:endParaRPr lang="ja-JP" alt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思い出す手がかり</a:t>
            </a:r>
            <a:endParaRPr lang="ja-JP" alt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286000" cy="73152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最新.md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 14 日の出来事</a:t>
            </a:r>
            <a:endParaRPr lang="ja-JP" alt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25880"/>
            <a:ext cx="2286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520440" y="1325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月ごとのアーカイブ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2026-09.md・2026-08.md…</a:t>
            </a:r>
            <a:endParaRPr lang="ja-JP" alt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25880"/>
            <a:ext cx="2286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1325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索引（README.md）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月ごとの件数と見出し</a:t>
            </a:r>
            <a:endParaRPr lang="ja-JP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1691640"/>
            <a:ext cx="594360" cy="0"/>
          </a:xfrm>
          <a:prstGeom prst="line">
            <a:avLst/>
          </a:prstGeom>
          <a:noFill/>
          <a:ln w="19050">
            <a:solidFill>
              <a:srgbClr val="77777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88920" y="1417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日で</a:t>
            </a:r>
            <a:endParaRPr lang="ja-JP" altLang="en-US" sz="1000" dirty="0"/>
          </a:p>
        </p:txBody>
      </p:sp>
      <p:sp>
        <p:nvSpPr>
          <p:cNvPr id="16" name="Shape 14"/>
          <p:cNvSpPr/>
          <p:nvPr/>
        </p:nvSpPr>
        <p:spPr>
          <a:xfrm flipH="1">
            <a:off x="5760720" y="1691640"/>
            <a:ext cx="594360" cy="0"/>
          </a:xfrm>
          <a:prstGeom prst="line">
            <a:avLst/>
          </a:prstGeom>
          <a:noFill/>
          <a:ln w="19050">
            <a:solidFill>
              <a:srgbClr val="777777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が読む順</a:t>
            </a:r>
            <a:endParaRPr lang="ja-JP" alt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最新.md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ふだんはここだけ</a:t>
            </a:r>
            <a:endParaRPr lang="ja-JP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22576" y="2926080"/>
            <a:ext cx="201168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560320" y="2606040"/>
            <a:ext cx="1828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65176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索引で月を絞る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無いときだけ</a:t>
            </a:r>
            <a:endParaRPr lang="ja-JP" alt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25696" y="2926080"/>
            <a:ext cx="201168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1828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75488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その月を開く</a:t>
            </a:r>
            <a:endParaRPr lang="ja-JP" alt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28816" y="2926080"/>
            <a:ext cx="201168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766560" y="2606040"/>
            <a:ext cx="1828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85800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正本の ID へ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タスク・課題</a:t>
            </a:r>
            <a:endParaRPr lang="ja-JP" altLang="en-US" sz="1200" dirty="0"/>
          </a:p>
        </p:txBody>
      </p:sp>
      <p:sp>
        <p:nvSpPr>
          <p:cNvPr id="29" name="Shape 27"/>
          <p:cNvSpPr/>
          <p:nvPr/>
        </p:nvSpPr>
        <p:spPr>
          <a:xfrm flipV="1">
            <a:off x="457200" y="3456432"/>
            <a:ext cx="1828800" cy="45720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30352" y="345643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の初動は ① だけ</a:t>
            </a:r>
            <a:endParaRPr lang="ja-JP" alt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06040" y="3429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・タスク・課題も open だけを読む。closed は ID で指されたときだけ開く</a:t>
            </a:r>
            <a:endParaRPr lang="ja-JP" altLang="en-US" sz="1100" dirty="0"/>
          </a:p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・作業ログは書かない。タスク・課題・打合せ記録（正本）から生成するので、二重に書かない</a:t>
            </a:r>
            <a:endParaRPr lang="ja-JP" alt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4069080"/>
            <a:ext cx="608076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78892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人の記憶と同じ</a:t>
            </a:r>
            <a:endParaRPr lang="ja-JP" alt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4069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忘れていい。要るときに思い出せればよい</a:t>
            </a:r>
            <a:endParaRPr lang="ja-JP" alt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8</a:t>
            </a:fld>
            <a:endParaRPr lang="ja-JP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3-3  Skill で速く、ハーネスで守る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手順は skill で省き、守るべき線は hook で機械的に止める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工夫したこと（1/2）</a:t>
            </a:r>
            <a:endParaRPr lang="ja-JP" alt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 ＝ 手順を省く（頼めば手順どおり動く）</a:t>
            </a:r>
            <a:endParaRPr lang="ja-JP" alt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Hook・検査 ＝ 守る（人が忘れても効く）</a:t>
            </a:r>
            <a:endParaRPr lang="ja-JP" alt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置き場を決める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work-placement ・ scratch</a:t>
            </a:r>
            <a:endParaRPr lang="ja-JP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拾って落とす・記録を保つ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pickup ・ task ・ update-overview ・ update-env-info</a:t>
            </a:r>
            <a:endParaRPr lang="ja-JP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文書を実物に追随させる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sync-design-docs ・ audit-design-docs</a:t>
            </a:r>
            <a:endParaRPr lang="ja-JP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9319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仕組みを育てる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harness</a:t>
            </a:r>
            <a:endParaRPr lang="ja-JP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3931920" cy="43891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停止：置き場外への書き込み</a:t>
            </a:r>
            <a:endParaRPr lang="ja-JP" alt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work_area_guard</a:t>
            </a:r>
            <a:endParaRPr lang="ja-JP" alt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975104"/>
            <a:ext cx="3931920" cy="43891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9751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停止：秘密情報の書き込み</a:t>
            </a:r>
            <a:endParaRPr lang="ja-JP" alt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秘密の検査</a:t>
            </a:r>
            <a:endParaRPr lang="ja-JP" alt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3931920" cy="43891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24871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再度記載：決定事項の書き残し</a:t>
            </a:r>
            <a:endParaRPr lang="ja-JP" alt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pickup_check</a:t>
            </a:r>
            <a:endParaRPr lang="ja-JP" alt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99232"/>
            <a:ext cx="3931920" cy="43891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9992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通知：変更に伴う文書の更新</a:t>
            </a:r>
            <a:endParaRPr lang="ja-JP" alt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design_docs_reminder</a:t>
            </a:r>
            <a:endParaRPr lang="ja-JP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11296"/>
            <a:ext cx="3931920" cy="438912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35112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通知：現在地・最近の出来事</a:t>
            </a:r>
            <a:endParaRPr lang="ja-JP" alt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session_context ・ work_log</a:t>
            </a:r>
            <a:endParaRPr lang="ja-JP" alt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457200" y="4114800"/>
            <a:ext cx="3931920" cy="41148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30352" y="411480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本の skill。頼めば Claude が手順どおり動く</a:t>
            </a:r>
            <a:endParaRPr lang="ja-JP" alt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4754880" y="4114800"/>
            <a:ext cx="3931920" cy="41148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828032" y="4114800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いつも効くのは 3 つ。あとは通知だけ</a:t>
            </a:r>
            <a:endParaRPr lang="ja-JP" alt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9</a:t>
            </a:fld>
            <a:endParaRPr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3-3  Skill で速く、ハーネスで守る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使いながら育てる: 最初から全部を決めず、2 回目に気づいたものを候補にする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工夫したこと（2/2）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気づく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同じ手順を 2 回した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「それはしないで」と言われた</a:t>
            </a:r>
            <a:endParaRPr lang="ja-JP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188720"/>
            <a:ext cx="26517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台帳に候補を書く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 ハーネス台帳.md へ</a:t>
            </a:r>
            <a:endParaRPr lang="ja-JP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788920"/>
            <a:ext cx="2651760" cy="77724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85216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人が承認する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承認したものだけ先へ進む</a:t>
            </a:r>
            <a:endParaRPr lang="ja-JP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2651760" cy="777240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定義して使う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skill・hook・rule にする</a:t>
            </a:r>
            <a:endParaRPr lang="ja-JP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572768"/>
            <a:ext cx="228600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086600" y="2011680"/>
            <a:ext cx="0" cy="73152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 flipH="1">
            <a:off x="3429000" y="3172968"/>
            <a:ext cx="228600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 flipV="1">
            <a:off x="2057400" y="2011680"/>
            <a:ext cx="0" cy="73152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749040" y="2011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6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</a:t>
            </a:r>
            <a:endParaRPr lang="ja-JP" altLang="en-US" sz="1600" dirty="0"/>
          </a:p>
          <a:p>
            <a:pPr marL="0" indent="0" algn="ctr">
              <a:buNone/>
            </a:pPr>
            <a:r>
              <a:rPr lang="ja-JP" altLang="en-US" sz="16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育つ</a:t>
            </a:r>
            <a:endParaRPr lang="ja-JP" alt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5943600" y="3639312"/>
            <a:ext cx="2286000" cy="45720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016752" y="363931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は勝手に定義しない</a:t>
            </a:r>
            <a:endParaRPr lang="ja-JP" alt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ほかの案件でも効くものは「返す」列へ → スケルトンで集めて取り込む</a:t>
            </a:r>
            <a:endParaRPr lang="ja-JP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10</a:t>
            </a:fld>
            <a:endParaRPr lang="ja-JP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4-1  作業の流れのどこに効くか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つまずく場所ごとに、手順（skill）と機械（hook）を置いた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どこに効くか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30352" y="10972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前回どこまで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進んだ?</a:t>
            </a:r>
            <a:endParaRPr lang="ja-JP" alt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セッション開始</a:t>
            </a:r>
            <a:endParaRPr lang="ja-JP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975104"/>
            <a:ext cx="146304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920240" cy="493776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現在地を 8 行で渡す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session_context</a:t>
            </a:r>
            <a:endParaRPr lang="ja-JP" alt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920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読む文書を絞る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ja-JP" alt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3456432"/>
            <a:ext cx="0" cy="201168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すぐ続きから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始められる</a:t>
            </a:r>
            <a:endParaRPr lang="ja-JP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1097280"/>
            <a:ext cx="192024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633472" y="10972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あちこちに散らかる</a:t>
            </a:r>
            <a:endParaRPr lang="ja-JP" alt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1783080"/>
            <a:ext cx="1920240" cy="384048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65176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作業の前</a:t>
            </a:r>
            <a:endParaRPr lang="ja-JP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98848" y="1975104"/>
            <a:ext cx="146304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560320" y="2286000"/>
            <a:ext cx="19202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651760" y="22860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置き場を先に決める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work-placement</a:t>
            </a:r>
            <a:endParaRPr lang="ja-JP" alt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852928"/>
            <a:ext cx="1920240" cy="493776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651760" y="28529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置き場の外を止める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work_area_guard</a:t>
            </a:r>
            <a:endParaRPr lang="ja-JP" alt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456432"/>
            <a:ext cx="0" cy="201168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56032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置き場が揃い、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探さない</a:t>
            </a:r>
            <a:endParaRPr lang="ja-JP" alt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097280"/>
            <a:ext cx="192024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736592" y="10972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決まったことが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会話に埋もれる</a:t>
            </a:r>
            <a:endParaRPr lang="ja-JP" alt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783080"/>
            <a:ext cx="1920240" cy="384048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75488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作業の区切り</a:t>
            </a:r>
            <a:endParaRPr lang="ja-JP" alt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01968" y="1975104"/>
            <a:ext cx="146304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663440" y="2286000"/>
            <a:ext cx="19202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754880" y="22860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決定・未決を落とす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pickup</a:t>
            </a:r>
            <a:endParaRPr lang="ja-JP" alt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852928"/>
            <a:ext cx="1920240" cy="493776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4754880" y="28529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再度記載・ログ生成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pickup_check・work_log</a:t>
            </a:r>
            <a:endParaRPr lang="ja-JP" alt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23560" y="3456432"/>
            <a:ext cx="0" cy="201168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6634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決定・未決が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必ずどこかに残る</a:t>
            </a:r>
            <a:endParaRPr lang="ja-JP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1097280"/>
            <a:ext cx="1920240" cy="566928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839712" y="10972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文書が実物より</a:t>
            </a:r>
            <a:endParaRPr lang="ja-JP" altLang="en-US" sz="1100" dirty="0"/>
          </a:p>
          <a:p>
            <a:pPr marL="0" indent="0" algn="ctr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古くなる</a:t>
            </a:r>
            <a:endParaRPr lang="ja-JP" alt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1783080"/>
            <a:ext cx="1920240" cy="384048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85800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節目</a:t>
            </a:r>
            <a:endParaRPr lang="ja-JP" alt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66560" y="2286000"/>
            <a:ext cx="1920240" cy="493776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858000" y="22860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記録と実物を突き合わせ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audit-design-docs</a:t>
            </a:r>
            <a:endParaRPr lang="ja-JP" alt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2852928"/>
            <a:ext cx="1920240" cy="493776"/>
          </a:xfrm>
          <a:prstGeom prst="rect">
            <a:avLst/>
          </a:prstGeom>
          <a:solidFill>
            <a:srgbClr val="4F6D8A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0" y="28529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鮮度を一覧に</a:t>
            </a:r>
            <a:endParaRPr lang="ja-JP" altLang="en-US" sz="11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000" dirty="0">
                <a:solidFill>
                  <a:srgbClr val="E3EAF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docs_freshness</a:t>
            </a:r>
            <a:endParaRPr lang="ja-JP" alt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26680" y="3456432"/>
            <a:ext cx="0" cy="201168"/>
          </a:xfrm>
          <a:prstGeom prst="line">
            <a:avLst/>
          </a:prstGeom>
          <a:noFill/>
          <a:ln w="15875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7665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文書が実物に</a:t>
            </a:r>
            <a:endParaRPr lang="ja-JP" altLang="en-US" sz="1200" dirty="0"/>
          </a:p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追いつく</a:t>
            </a:r>
            <a:endParaRPr lang="ja-JP" alt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 = よくある問題 ／ 青灰の塗り = 機械（hook・検査）／ 枠 = 手順（skill）／ 青灰の字 = メリット</a:t>
            </a:r>
            <a:endParaRPr lang="ja-JP" altLang="en-US" sz="10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11</a:t>
            </a:fld>
            <a:endParaRPr lang="ja-JP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4-2  導入の進め方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必要な情報は AI が示す。人は集めるか、権限を渡して AI に集めさせる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60720" y="27432"/>
            <a:ext cx="2926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ja-JP" altLang="en-US" sz="11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どこに効くか</a:t>
            </a:r>
            <a:endParaRPr lang="ja-JP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が示す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環境・関係者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決めてほしいこと</a:t>
            </a:r>
            <a:endParaRPr lang="ja-JP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2103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9260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人が集める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ヒアリング・資料</a:t>
            </a:r>
            <a:endParaRPr lang="ja-JP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210312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92608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に権限を渡して集める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読める範囲を渡す</a:t>
            </a:r>
            <a:endParaRPr lang="ja-JP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508760"/>
            <a:ext cx="36576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423160" y="2423160"/>
            <a:ext cx="36576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394960" y="1280160"/>
            <a:ext cx="16002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0" y="128016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効果を検討・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カスタマイズ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Skill・Rules・</a:t>
            </a:r>
            <a:endParaRPr lang="ja-JP" altLang="en-US" sz="12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</a:t>
            </a:r>
            <a:endParaRPr lang="ja-JP" alt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1508760"/>
            <a:ext cx="365760" cy="27432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 flipV="1">
            <a:off x="4983480" y="2148840"/>
            <a:ext cx="365760" cy="27432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360920" y="1280160"/>
            <a:ext cx="1325880" cy="1371600"/>
          </a:xfrm>
          <a:prstGeom prst="rect">
            <a:avLst/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452360" y="128016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3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業務で</a:t>
            </a:r>
            <a:endParaRPr lang="ja-JP" altLang="en-US" sz="13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3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</a:t>
            </a:r>
            <a:endParaRPr lang="ja-JP" altLang="en-US" sz="13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3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最大化</a:t>
            </a:r>
            <a:endParaRPr lang="ja-JP" alt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965960"/>
            <a:ext cx="27432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7777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書き込み先: 環境情報.md・案件情報.md（Git 管理外）と概要 HTML の「決めてほしいこと」</a:t>
            </a:r>
            <a:endParaRPr lang="ja-JP" alt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834640" y="2926080"/>
            <a:ext cx="4114800" cy="502920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907792" y="292608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2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人は「どこに効かせるか」の判断に時間を使う</a:t>
            </a:r>
            <a:endParaRPr lang="ja-JP" alt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813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本末転倒を避ける</a:t>
            </a:r>
            <a:endParaRPr lang="ja-JP" alt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人のボトルネックを省く AI の導入に、人の時間を割かない。準備は AI に任せ、人は検討とカスタマイズに集中する</a:t>
            </a:r>
            <a:endParaRPr lang="ja-JP" alt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12</a:t>
            </a:fld>
            <a:endParaRPr lang="ja-JP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作って分かったこと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導入の勘所は業務で大きく変わらない。小さな型で始め、育てる仕組みをつくることが重要。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B03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導入で起きたこと、気づいたこと</a:t>
            </a:r>
            <a:endParaRPr lang="ja-JP" alt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0" y="1078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</a:rPr>
              <a:t>対応</a:t>
            </a:r>
            <a:endParaRPr lang="ja-JP" alt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に資料作成を任せたら、格納先が散らかって収拾がつかなくなった。</a:t>
            </a:r>
            <a:endParaRPr lang="ja-JP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00784"/>
            <a:ext cx="54864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937760" y="1353312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3533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シンプルなフォルダ階層と作業ディレクトリを先に用意する。置き場は AI 任せにしない。</a:t>
            </a:r>
            <a:endParaRPr lang="ja-JP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 エージェント導入」で調べると、業務ごとにカスタマイズすべきと書かれていることが多いが、、、</a:t>
            </a:r>
            <a:endParaRPr lang="ja-JP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2505456"/>
            <a:ext cx="54864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937760" y="2157984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215798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導入で気をつける点は、業務によってあまり変わらない。ある程度の標準化は目指せる。</a:t>
            </a:r>
            <a:endParaRPr lang="ja-JP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最初から固め切った標準化をすると、AI の柔軟性が失われ、カスタマイズに時間がかかる。</a:t>
            </a:r>
            <a:endParaRPr lang="ja-JP" alt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310128"/>
            <a:ext cx="54864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937760" y="2962656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296265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最小限の型で始め、使いながら徐々に育てる仕組みをつくることが重要。</a:t>
            </a:r>
            <a:endParaRPr lang="ja-JP" alt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とのやり取りで決まったことが、会話に流れて残らない。</a:t>
            </a:r>
            <a:endParaRPr lang="ja-JP" alt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4114800"/>
            <a:ext cx="548640" cy="0"/>
          </a:xfrm>
          <a:prstGeom prst="line">
            <a:avLst/>
          </a:prstGeom>
          <a:noFill/>
          <a:ln w="19050">
            <a:solidFill>
              <a:srgbClr val="4F6D8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937760" y="3767328"/>
            <a:ext cx="3749040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029200" y="376732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決まったことの置き場を 1 か所に決め、区切りごとに AI に拾わせる。</a:t>
            </a:r>
            <a:endParaRPr lang="ja-JP" alt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13</a:t>
            </a:fld>
            <a:endParaRPr lang="ja-JP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800" b="1" dirty="0">
                <a:solidFill>
                  <a:srgbClr val="2F3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ja-JP" altLang="en-US" sz="1800" dirty="0"/>
          </a:p>
        </p:txBody>
      </p:sp>
      <p:sp>
        <p:nvSpPr>
          <p:cNvPr id="3" name="Text 1"/>
          <p:cNvSpPr>
            <a:spLocks noGrp="1"/>
          </p:cNvSpPr>
          <p:nvPr>
            <p:ph idx="102" hasCustomPrompt="1"/>
          </p:nvPr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project-skeleton は、AI 導入の初動を早くする起爆剤</a:t>
            </a:r>
            <a:endParaRPr lang="ja-JP" alt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24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3-1</a:t>
            </a:r>
            <a:endParaRPr lang="ja-JP" alt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縛りは後から効かせる</a:t>
            </a:r>
            <a:endParaRPr lang="ja-JP" alt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導入では縛らず、Sketch → Build で標準化が効いてくる</a:t>
            </a:r>
            <a:endParaRPr lang="ja-JP" alt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4612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24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3-2</a:t>
            </a:r>
            <a:endParaRPr lang="ja-JP" alt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517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覚えさせすぎない</a:t>
            </a:r>
            <a:endParaRPr lang="ja-JP" alt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人向けはシンプル、AI 向けは詳細。作業ログは 14 日でわざと忘れる</a:t>
            </a:r>
            <a:endParaRPr lang="ja-JP" alt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24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3-3</a:t>
            </a:r>
            <a:endParaRPr lang="ja-JP" alt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517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6D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仕組みは使いながら育てる</a:t>
            </a:r>
            <a:endParaRPr lang="ja-JP" alt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ja-JP" alt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回目に気づいたものを候補に。人が承認してから定義する</a:t>
            </a:r>
            <a:endParaRPr lang="ja-JP" alt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100" b="1" dirty="0">
                <a:solidFill>
                  <a:srgbClr val="4F6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伝えたいこと</a:t>
            </a:r>
            <a:endParaRPr lang="ja-JP" alt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を入れる準備に時間を割くのではなく、業務で効かせることに時間を使う</a:t>
            </a:r>
            <a:endParaRPr lang="ja-JP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lang="ja-JP" altLang="en-US" sz="900">
                <a:solidFill>
                  <a:srgbClr val="777777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ja-JP" altLang="en-US" b="0"/>
              <a:t>14</a:t>
            </a:fld>
            <a:endParaRPr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</Words>
  <Application>Microsoft Office PowerPoint</Application>
  <PresentationFormat>画面に合わせる (16:9)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Meiryo</vt:lpstr>
      <vt:lpstr>Arial</vt:lpstr>
      <vt:lpstr>Office Theme</vt:lpstr>
      <vt:lpstr>PowerPoint プレゼンテーション</vt:lpstr>
      <vt:lpstr>目次</vt:lpstr>
      <vt:lpstr>1-1  AI 導入が目的になっていないか</vt:lpstr>
      <vt:lpstr>2-1  全体像</vt:lpstr>
      <vt:lpstr>3-1  標準化は後から効かせる</vt:lpstr>
      <vt:lpstr>3-1  標準化は後から効かせる</vt:lpstr>
      <vt:lpstr>3-2  覚えさせすぎない</vt:lpstr>
      <vt:lpstr>3-2  覚えさせすぎない</vt:lpstr>
      <vt:lpstr>3-3  Skill で速く、ハーネスで守る</vt:lpstr>
      <vt:lpstr>3-3  Skill で速く、ハーネスで守る</vt:lpstr>
      <vt:lpstr>4-1  作業の流れのどこに効くか</vt:lpstr>
      <vt:lpstr>4-2  導入の進め方</vt:lpstr>
      <vt:lpstr>5  作って分かったこと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を入れる準備で、止まらない</dc:title>
  <dc:subject/>
  <dc:creator/>
  <cp:lastModifiedBy/>
  <cp:revision>1</cp:revision>
  <dcterms:created xsi:type="dcterms:W3CDTF">2026-09-24T15:35:16Z</dcterms:created>
  <dcterms:modified xsi:type="dcterms:W3CDTF">2026-09-24T15:35:29Z</dcterms:modified>
</cp:coreProperties>
</file>